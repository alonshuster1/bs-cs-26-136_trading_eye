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10"/>
  </p:notesMasterIdLst>
  <p:sldIdLst>
    <p:sldId id="256" r:id="rId2"/>
    <p:sldId id="259" r:id="rId3"/>
    <p:sldId id="267" r:id="rId4"/>
    <p:sldId id="260" r:id="rId5"/>
    <p:sldId id="261" r:id="rId6"/>
    <p:sldId id="264" r:id="rId7"/>
    <p:sldId id="263" r:id="rId8"/>
    <p:sldId id="266" r:id="rId9"/>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84945C-10AB-4674-B5F5-8D7DD2443F24}">
          <p14:sldIdLst>
            <p14:sldId id="256"/>
            <p14:sldId id="259"/>
            <p14:sldId id="267"/>
            <p14:sldId id="260"/>
            <p14:sldId id="261"/>
            <p14:sldId id="264"/>
            <p14:sldId id="263"/>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797" autoAdjust="0"/>
  </p:normalViewPr>
  <p:slideViewPr>
    <p:cSldViewPr snapToGrid="0">
      <p:cViewPr>
        <p:scale>
          <a:sx n="75" d="100"/>
          <a:sy n="75" d="100"/>
        </p:scale>
        <p:origin x="974"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93B07475-86AA-43BD-ACE4-C2BFF049A482}" type="datetimeFigureOut">
              <a:rPr lang="he-IL" smtClean="0"/>
              <a:t>כ"ו/כסלו/תשפ"ו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6FD6B4DB-B40F-43F7-80AA-F79DAF27A550}" type="slidenum">
              <a:rPr lang="he-IL" smtClean="0"/>
              <a:t>‹#›</a:t>
            </a:fld>
            <a:endParaRPr lang="he-IL"/>
          </a:p>
        </p:txBody>
      </p:sp>
    </p:spTree>
    <p:extLst>
      <p:ext uri="{BB962C8B-B14F-4D97-AF65-F5344CB8AC3E}">
        <p14:creationId xmlns:p14="http://schemas.microsoft.com/office/powerpoint/2010/main" val="4170640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EA5AD-2DAA-1FB1-380D-7AE628CF5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CDEFB-6AF2-88A1-A365-723AA6D9C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5DB96-E3D9-FD80-34E8-8DFBFFCF5C64}"/>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BDB5F52A-1F73-FF3C-205B-B548B0FD7467}"/>
              </a:ext>
            </a:extLst>
          </p:cNvPr>
          <p:cNvSpPr>
            <a:spLocks noGrp="1"/>
          </p:cNvSpPr>
          <p:nvPr>
            <p:ph type="sldNum" sz="quarter" idx="5"/>
          </p:nvPr>
        </p:nvSpPr>
        <p:spPr/>
        <p:txBody>
          <a:bodyPr/>
          <a:lstStyle/>
          <a:p>
            <a:fld id="{6FD6B4DB-B40F-43F7-80AA-F79DAF27A550}" type="slidenum">
              <a:rPr lang="he-IL" smtClean="0"/>
              <a:t>2</a:t>
            </a:fld>
            <a:endParaRPr lang="he-IL"/>
          </a:p>
        </p:txBody>
      </p:sp>
    </p:spTree>
    <p:extLst>
      <p:ext uri="{BB962C8B-B14F-4D97-AF65-F5344CB8AC3E}">
        <p14:creationId xmlns:p14="http://schemas.microsoft.com/office/powerpoint/2010/main" val="3076344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8AABB-041A-7E53-9D6A-EB7196CF6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3C6CC-B28E-3306-8225-1BCE894C3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BEFF2-7FCE-E99A-1089-5DD5CB393ECE}"/>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201F3238-C744-1B77-50C2-FF813D604EFA}"/>
              </a:ext>
            </a:extLst>
          </p:cNvPr>
          <p:cNvSpPr>
            <a:spLocks noGrp="1"/>
          </p:cNvSpPr>
          <p:nvPr>
            <p:ph type="sldNum" sz="quarter" idx="5"/>
          </p:nvPr>
        </p:nvSpPr>
        <p:spPr/>
        <p:txBody>
          <a:bodyPr/>
          <a:lstStyle/>
          <a:p>
            <a:fld id="{6FD6B4DB-B40F-43F7-80AA-F79DAF27A550}" type="slidenum">
              <a:rPr lang="he-IL" smtClean="0"/>
              <a:t>3</a:t>
            </a:fld>
            <a:endParaRPr lang="he-IL"/>
          </a:p>
        </p:txBody>
      </p:sp>
    </p:spTree>
    <p:extLst>
      <p:ext uri="{BB962C8B-B14F-4D97-AF65-F5344CB8AC3E}">
        <p14:creationId xmlns:p14="http://schemas.microsoft.com/office/powerpoint/2010/main" val="1122667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F4B3-EBDE-AECA-5281-7D091AE8B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24681B-A151-AB18-4239-BF1600AEB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61BB9-2A30-EF05-1535-A2AB093BDD82}"/>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0618C8B9-0A94-C9D4-0FDF-8FEBC5F5A483}"/>
              </a:ext>
            </a:extLst>
          </p:cNvPr>
          <p:cNvSpPr>
            <a:spLocks noGrp="1"/>
          </p:cNvSpPr>
          <p:nvPr>
            <p:ph type="sldNum" sz="quarter" idx="5"/>
          </p:nvPr>
        </p:nvSpPr>
        <p:spPr/>
        <p:txBody>
          <a:bodyPr/>
          <a:lstStyle/>
          <a:p>
            <a:fld id="{6FD6B4DB-B40F-43F7-80AA-F79DAF27A550}" type="slidenum">
              <a:rPr lang="he-IL" smtClean="0"/>
              <a:t>4</a:t>
            </a:fld>
            <a:endParaRPr lang="he-IL"/>
          </a:p>
        </p:txBody>
      </p:sp>
    </p:spTree>
    <p:extLst>
      <p:ext uri="{BB962C8B-B14F-4D97-AF65-F5344CB8AC3E}">
        <p14:creationId xmlns:p14="http://schemas.microsoft.com/office/powerpoint/2010/main" val="3871954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745E5-E66C-9040-2931-0D5015FC4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552FC-0F4E-315E-2338-280D5D91B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9D5A7-D3DA-68C4-C788-9231A0B5365E}"/>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7AFF5783-C8C1-6407-F169-AF13758FC4CA}"/>
              </a:ext>
            </a:extLst>
          </p:cNvPr>
          <p:cNvSpPr>
            <a:spLocks noGrp="1"/>
          </p:cNvSpPr>
          <p:nvPr>
            <p:ph type="sldNum" sz="quarter" idx="5"/>
          </p:nvPr>
        </p:nvSpPr>
        <p:spPr/>
        <p:txBody>
          <a:bodyPr/>
          <a:lstStyle/>
          <a:p>
            <a:fld id="{6FD6B4DB-B40F-43F7-80AA-F79DAF27A550}" type="slidenum">
              <a:rPr lang="he-IL" smtClean="0"/>
              <a:t>5</a:t>
            </a:fld>
            <a:endParaRPr lang="he-IL"/>
          </a:p>
        </p:txBody>
      </p:sp>
    </p:spTree>
    <p:extLst>
      <p:ext uri="{BB962C8B-B14F-4D97-AF65-F5344CB8AC3E}">
        <p14:creationId xmlns:p14="http://schemas.microsoft.com/office/powerpoint/2010/main" val="351398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BCCC3-2567-4D1A-E983-9100AFCB2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C53F7-6665-9885-641E-8C5985660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13FF2-E343-C1F2-59C7-BC9C2867C823}"/>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C1318E5A-BFF3-206B-952B-E48A6DC55F7B}"/>
              </a:ext>
            </a:extLst>
          </p:cNvPr>
          <p:cNvSpPr>
            <a:spLocks noGrp="1"/>
          </p:cNvSpPr>
          <p:nvPr>
            <p:ph type="sldNum" sz="quarter" idx="5"/>
          </p:nvPr>
        </p:nvSpPr>
        <p:spPr/>
        <p:txBody>
          <a:bodyPr/>
          <a:lstStyle/>
          <a:p>
            <a:fld id="{6FD6B4DB-B40F-43F7-80AA-F79DAF27A550}" type="slidenum">
              <a:rPr lang="he-IL" smtClean="0"/>
              <a:t>6</a:t>
            </a:fld>
            <a:endParaRPr lang="he-IL"/>
          </a:p>
        </p:txBody>
      </p:sp>
    </p:spTree>
    <p:extLst>
      <p:ext uri="{BB962C8B-B14F-4D97-AF65-F5344CB8AC3E}">
        <p14:creationId xmlns:p14="http://schemas.microsoft.com/office/powerpoint/2010/main" val="2609117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62B6-60EC-D4C2-60C2-AC14768DA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DAA5D-1BE9-B496-7111-E966758837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F3B7B-8A79-50AA-EBA4-5BBFC05E63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Bahnschrift SemiBold" panose="020B0502040204020203" pitchFamily="34" charset="0"/>
              </a:rPr>
              <a:t>The Innovation: The algorithm uses advanced strategic analysis to find the right balance between risk and profit, helping us determine the most secure trading strategies.</a:t>
            </a:r>
          </a:p>
          <a:p>
            <a:endParaRPr lang="he-IL" dirty="0"/>
          </a:p>
        </p:txBody>
      </p:sp>
      <p:sp>
        <p:nvSpPr>
          <p:cNvPr id="4" name="Slide Number Placeholder 3">
            <a:extLst>
              <a:ext uri="{FF2B5EF4-FFF2-40B4-BE49-F238E27FC236}">
                <a16:creationId xmlns:a16="http://schemas.microsoft.com/office/drawing/2014/main" id="{DB9CEDBE-77A0-1E5A-1782-DCD7FE6DBB2D}"/>
              </a:ext>
            </a:extLst>
          </p:cNvPr>
          <p:cNvSpPr>
            <a:spLocks noGrp="1"/>
          </p:cNvSpPr>
          <p:nvPr>
            <p:ph type="sldNum" sz="quarter" idx="5"/>
          </p:nvPr>
        </p:nvSpPr>
        <p:spPr/>
        <p:txBody>
          <a:bodyPr/>
          <a:lstStyle/>
          <a:p>
            <a:fld id="{6FD6B4DB-B40F-43F7-80AA-F79DAF27A550}" type="slidenum">
              <a:rPr lang="he-IL" smtClean="0"/>
              <a:t>7</a:t>
            </a:fld>
            <a:endParaRPr lang="he-IL"/>
          </a:p>
        </p:txBody>
      </p:sp>
    </p:spTree>
    <p:extLst>
      <p:ext uri="{BB962C8B-B14F-4D97-AF65-F5344CB8AC3E}">
        <p14:creationId xmlns:p14="http://schemas.microsoft.com/office/powerpoint/2010/main" val="4065896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CE9A7-3EE4-BF8A-5B16-C53DEF92C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83430-5EC0-C494-F6CB-16F1CB09D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F109C-D935-EFD6-E94A-5142F7FF5312}"/>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DD505807-D2B0-AB52-15EC-71AC8F1FDC08}"/>
              </a:ext>
            </a:extLst>
          </p:cNvPr>
          <p:cNvSpPr>
            <a:spLocks noGrp="1"/>
          </p:cNvSpPr>
          <p:nvPr>
            <p:ph type="sldNum" sz="quarter" idx="5"/>
          </p:nvPr>
        </p:nvSpPr>
        <p:spPr/>
        <p:txBody>
          <a:bodyPr/>
          <a:lstStyle/>
          <a:p>
            <a:fld id="{6FD6B4DB-B40F-43F7-80AA-F79DAF27A550}" type="slidenum">
              <a:rPr lang="he-IL" smtClean="0"/>
              <a:t>8</a:t>
            </a:fld>
            <a:endParaRPr lang="he-IL"/>
          </a:p>
        </p:txBody>
      </p:sp>
    </p:spTree>
    <p:extLst>
      <p:ext uri="{BB962C8B-B14F-4D97-AF65-F5344CB8AC3E}">
        <p14:creationId xmlns:p14="http://schemas.microsoft.com/office/powerpoint/2010/main" val="556327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12/16/2025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69511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12/16/2025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95392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12/16/2025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14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12/16/2025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1496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12/16/2025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34689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12/16/2025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02224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12/16/2025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30151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12/16/2025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14007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12/16/2025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56337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12/16/2025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72523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12/16/2025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639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12/16/2025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741005"/>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29" r:id="rId6"/>
    <p:sldLayoutId id="2147483725" r:id="rId7"/>
    <p:sldLayoutId id="2147483726" r:id="rId8"/>
    <p:sldLayoutId id="2147483727" r:id="rId9"/>
    <p:sldLayoutId id="2147483728" r:id="rId10"/>
    <p:sldLayoutId id="214748373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133D84CA-A8E0-DF20-D719-408C64B4739F}"/>
              </a:ext>
            </a:extLst>
          </p:cNvPr>
          <p:cNvPicPr>
            <a:picLocks noChangeAspect="1"/>
          </p:cNvPicPr>
          <p:nvPr/>
        </p:nvPicPr>
        <p:blipFill>
          <a:blip r:embed="rId2">
            <a:alphaModFix amt="40000"/>
          </a:blip>
          <a:srcRect r="9091" b="12214"/>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46C2FE0B-9F1F-9D70-A73F-3BA93DDF6A48}"/>
              </a:ext>
            </a:extLst>
          </p:cNvPr>
          <p:cNvSpPr>
            <a:spLocks noGrp="1"/>
          </p:cNvSpPr>
          <p:nvPr>
            <p:ph type="ctrTitle"/>
          </p:nvPr>
        </p:nvSpPr>
        <p:spPr>
          <a:xfrm>
            <a:off x="640080" y="985233"/>
            <a:ext cx="5758628" cy="3355853"/>
          </a:xfrm>
        </p:spPr>
        <p:txBody>
          <a:bodyPr anchor="t">
            <a:normAutofit/>
          </a:bodyPr>
          <a:lstStyle/>
          <a:p>
            <a:r>
              <a:rPr lang="en-US" sz="6000">
                <a:solidFill>
                  <a:srgbClr val="FFFFFF"/>
                </a:solidFill>
              </a:rPr>
              <a:t>Trading Eye Project</a:t>
            </a:r>
            <a:br>
              <a:rPr lang="en-US" sz="6000">
                <a:solidFill>
                  <a:srgbClr val="FFFFFF"/>
                </a:solidFill>
              </a:rPr>
            </a:br>
            <a:r>
              <a:rPr lang="en-US" sz="6000">
                <a:solidFill>
                  <a:srgbClr val="FFFFFF"/>
                </a:solidFill>
              </a:rPr>
              <a:t>BC-CS-26-136</a:t>
            </a:r>
            <a:endParaRPr lang="he-IL" sz="6000">
              <a:solidFill>
                <a:srgbClr val="FFFFFF"/>
              </a:solidFill>
            </a:endParaRPr>
          </a:p>
        </p:txBody>
      </p:sp>
      <p:sp>
        <p:nvSpPr>
          <p:cNvPr id="3" name="Subtitle 2">
            <a:extLst>
              <a:ext uri="{FF2B5EF4-FFF2-40B4-BE49-F238E27FC236}">
                <a16:creationId xmlns:a16="http://schemas.microsoft.com/office/drawing/2014/main" id="{12C3D96E-4B23-C32B-34E4-616682BF8C6F}"/>
              </a:ext>
            </a:extLst>
          </p:cNvPr>
          <p:cNvSpPr>
            <a:spLocks noGrp="1"/>
          </p:cNvSpPr>
          <p:nvPr>
            <p:ph type="subTitle" idx="1"/>
          </p:nvPr>
        </p:nvSpPr>
        <p:spPr>
          <a:xfrm>
            <a:off x="640080" y="5251621"/>
            <a:ext cx="4439920" cy="1104721"/>
          </a:xfrm>
        </p:spPr>
        <p:txBody>
          <a:bodyPr anchor="t">
            <a:normAutofit/>
          </a:bodyPr>
          <a:lstStyle/>
          <a:p>
            <a:r>
              <a:rPr lang="en-US" dirty="0">
                <a:solidFill>
                  <a:srgbClr val="FFFFFF"/>
                </a:solidFill>
              </a:rPr>
              <a:t>STUDENT: TAIR NOY</a:t>
            </a:r>
            <a:br>
              <a:rPr lang="en-US" dirty="0">
                <a:solidFill>
                  <a:srgbClr val="FFFFFF"/>
                </a:solidFill>
              </a:rPr>
            </a:br>
            <a:r>
              <a:rPr lang="en-US" dirty="0">
                <a:solidFill>
                  <a:srgbClr val="FFFFFF"/>
                </a:solidFill>
              </a:rPr>
              <a:t>SUPERVISOR: JEREMY MILLER</a:t>
            </a:r>
            <a:endParaRPr lang="he-IL" dirty="0">
              <a:solidFill>
                <a:srgbClr val="FFFFFF"/>
              </a:solidFill>
            </a:endParaRPr>
          </a:p>
        </p:txBody>
      </p:sp>
      <p:cxnSp>
        <p:nvCxnSpPr>
          <p:cNvPr id="34" name="Straight Connector 33">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651285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7F73FD-D24A-C024-BDE1-34CD16122ED4}"/>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9A9681A-2486-4655-A876-E26402CA2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55C6083F-DEBF-2AB9-F1FA-C0AF57CDE3D4}"/>
              </a:ext>
            </a:extLst>
          </p:cNvPr>
          <p:cNvPicPr>
            <a:picLocks noChangeAspect="1"/>
          </p:cNvPicPr>
          <p:nvPr/>
        </p:nvPicPr>
        <p:blipFill>
          <a:blip r:embed="rId3">
            <a:alphaModFix/>
          </a:blip>
          <a:srcRect b="3436"/>
          <a:stretch>
            <a:fillRect/>
          </a:stretch>
        </p:blipFill>
        <p:spPr>
          <a:xfrm>
            <a:off x="2" y="152"/>
            <a:ext cx="12191998" cy="6857848"/>
          </a:xfrm>
          <a:prstGeom prst="rect">
            <a:avLst/>
          </a:prstGeom>
        </p:spPr>
      </p:pic>
      <p:sp>
        <p:nvSpPr>
          <p:cNvPr id="34" name="Rectangle 33">
            <a:extLst>
              <a:ext uri="{FF2B5EF4-FFF2-40B4-BE49-F238E27FC236}">
                <a16:creationId xmlns:a16="http://schemas.microsoft.com/office/drawing/2014/main" id="{C9BB6818-31C2-4340-98F8-64FF7F46A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D1F4D2-95AE-2668-1A59-BAAB33FE1627}"/>
              </a:ext>
            </a:extLst>
          </p:cNvPr>
          <p:cNvSpPr>
            <a:spLocks noGrp="1"/>
          </p:cNvSpPr>
          <p:nvPr>
            <p:ph type="ctrTitle"/>
          </p:nvPr>
        </p:nvSpPr>
        <p:spPr>
          <a:xfrm>
            <a:off x="288063" y="1263445"/>
            <a:ext cx="5758629" cy="2696866"/>
          </a:xfrm>
        </p:spPr>
        <p:txBody>
          <a:bodyPr anchor="t">
            <a:normAutofit/>
          </a:bodyPr>
          <a:lstStyle/>
          <a:p>
            <a:r>
              <a:rPr lang="en-US" b="0" dirty="0">
                <a:latin typeface="Grandview Display (Headings)"/>
                <a:ea typeface="Poppins Bold"/>
                <a:cs typeface="Poppins Bold"/>
                <a:sym typeface="Poppins Bold"/>
              </a:rPr>
              <a:t>INTRODUCTION</a:t>
            </a:r>
            <a:endParaRPr lang="he-IL" dirty="0">
              <a:solidFill>
                <a:srgbClr val="FFFFFF"/>
              </a:solidFill>
              <a:latin typeface="Grandview Display (Headings)"/>
            </a:endParaRPr>
          </a:p>
        </p:txBody>
      </p:sp>
      <p:sp>
        <p:nvSpPr>
          <p:cNvPr id="3" name="Subtitle 2">
            <a:extLst>
              <a:ext uri="{FF2B5EF4-FFF2-40B4-BE49-F238E27FC236}">
                <a16:creationId xmlns:a16="http://schemas.microsoft.com/office/drawing/2014/main" id="{33030766-B914-48FB-090C-474C8E28E6D5}"/>
              </a:ext>
            </a:extLst>
          </p:cNvPr>
          <p:cNvSpPr>
            <a:spLocks noGrp="1"/>
          </p:cNvSpPr>
          <p:nvPr>
            <p:ph type="subTitle" idx="1"/>
          </p:nvPr>
        </p:nvSpPr>
        <p:spPr>
          <a:xfrm>
            <a:off x="217291" y="2155072"/>
            <a:ext cx="7560023" cy="4205088"/>
          </a:xfrm>
        </p:spPr>
        <p:txBody>
          <a:bodyPr anchor="b">
            <a:normAutofit fontScale="92500" lnSpcReduction="10000"/>
          </a:bodyPr>
          <a:lstStyle/>
          <a:p>
            <a:r>
              <a:rPr lang="en-US" sz="1600" dirty="0">
                <a:latin typeface="Grandview Display (Body)"/>
                <a:cs typeface="Arial" panose="020B0604020202020204" pitchFamily="34" charset="0"/>
              </a:rPr>
              <a:t>The stock market is simply where people buy and sell ownership pieces, or stocks, of companies. When you buy a stock, you become a tiny owner, hoping the company grows so your share becomes more valuable. However, investing is always about balancing two things: risk - the chance of losing money and reward - how much you can potentially earn.</a:t>
            </a:r>
          </a:p>
          <a:p>
            <a:r>
              <a:rPr lang="en-US" sz="1600" dirty="0">
                <a:latin typeface="Grandview Display (Body)"/>
                <a:cs typeface="Arial" panose="020B0604020202020204" pitchFamily="34" charset="0"/>
              </a:rPr>
              <a:t>This is exactly why we created the Trading Eye Project. We use Computer Science and data analysis to investigate the market, helping us find the best opportunities and manage the risk. Our goal is to give investors a clear, smart, and strong plan for their money.</a:t>
            </a:r>
          </a:p>
        </p:txBody>
      </p:sp>
      <p:cxnSp>
        <p:nvCxnSpPr>
          <p:cNvPr id="36" name="Straight Connector 35">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44482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DF71A5-339A-D653-3D47-243D505C706B}"/>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E3F44A15-A95C-385D-DE4C-BB8026C6C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9A0F9A68-E979-0D0A-944F-48C47BE13285}"/>
              </a:ext>
            </a:extLst>
          </p:cNvPr>
          <p:cNvPicPr>
            <a:picLocks noChangeAspect="1"/>
          </p:cNvPicPr>
          <p:nvPr/>
        </p:nvPicPr>
        <p:blipFill>
          <a:blip r:embed="rId3">
            <a:alphaModFix/>
          </a:blip>
          <a:srcRect b="3436"/>
          <a:stretch>
            <a:fillRect/>
          </a:stretch>
        </p:blipFill>
        <p:spPr>
          <a:xfrm>
            <a:off x="2" y="152"/>
            <a:ext cx="12191998" cy="6857848"/>
          </a:xfrm>
          <a:prstGeom prst="rect">
            <a:avLst/>
          </a:prstGeom>
        </p:spPr>
      </p:pic>
      <p:sp>
        <p:nvSpPr>
          <p:cNvPr id="34" name="Rectangle 33">
            <a:extLst>
              <a:ext uri="{FF2B5EF4-FFF2-40B4-BE49-F238E27FC236}">
                <a16:creationId xmlns:a16="http://schemas.microsoft.com/office/drawing/2014/main" id="{39186FB3-F6FB-E7C4-8203-2EBD26B22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B93C47-DAD3-6CB3-4B29-81C06E391540}"/>
              </a:ext>
            </a:extLst>
          </p:cNvPr>
          <p:cNvSpPr>
            <a:spLocks noGrp="1"/>
          </p:cNvSpPr>
          <p:nvPr>
            <p:ph type="ctrTitle"/>
          </p:nvPr>
        </p:nvSpPr>
        <p:spPr>
          <a:xfrm>
            <a:off x="288063" y="1263445"/>
            <a:ext cx="5758629" cy="2696866"/>
          </a:xfrm>
        </p:spPr>
        <p:txBody>
          <a:bodyPr anchor="t">
            <a:normAutofit/>
          </a:bodyPr>
          <a:lstStyle/>
          <a:p>
            <a:r>
              <a:rPr lang="en-US" b="0">
                <a:solidFill>
                  <a:srgbClr val="FFFFFF"/>
                </a:solidFill>
              </a:rPr>
              <a:t>THE PROBLEM</a:t>
            </a:r>
            <a:br>
              <a:rPr lang="en-US" b="0">
                <a:solidFill>
                  <a:srgbClr val="FFFFFF"/>
                </a:solidFill>
              </a:rPr>
            </a:br>
            <a:br>
              <a:rPr lang="en-US">
                <a:solidFill>
                  <a:srgbClr val="FFFFFF"/>
                </a:solidFill>
                <a:latin typeface="Grandview Display (Headings)"/>
                <a:ea typeface="Poppins Bold"/>
                <a:cs typeface="Poppins Bold"/>
                <a:sym typeface="Poppins Bold"/>
              </a:rPr>
            </a:br>
            <a:endParaRPr lang="he-IL" dirty="0">
              <a:solidFill>
                <a:srgbClr val="FFFFFF"/>
              </a:solidFill>
              <a:latin typeface="Grandview Display (Headings)"/>
            </a:endParaRPr>
          </a:p>
        </p:txBody>
      </p:sp>
      <p:sp>
        <p:nvSpPr>
          <p:cNvPr id="3" name="Subtitle 2">
            <a:extLst>
              <a:ext uri="{FF2B5EF4-FFF2-40B4-BE49-F238E27FC236}">
                <a16:creationId xmlns:a16="http://schemas.microsoft.com/office/drawing/2014/main" id="{A34F3A7A-5CAB-8FDA-B19A-EF6230D93765}"/>
              </a:ext>
            </a:extLst>
          </p:cNvPr>
          <p:cNvSpPr>
            <a:spLocks noGrp="1"/>
          </p:cNvSpPr>
          <p:nvPr>
            <p:ph type="subTitle" idx="1"/>
          </p:nvPr>
        </p:nvSpPr>
        <p:spPr>
          <a:xfrm>
            <a:off x="217291" y="2155072"/>
            <a:ext cx="7560023" cy="4065130"/>
          </a:xfrm>
        </p:spPr>
        <p:txBody>
          <a:bodyPr anchor="b">
            <a:normAutofit fontScale="92500"/>
          </a:bodyPr>
          <a:lstStyle/>
          <a:p>
            <a:pPr marL="285750" indent="-285750">
              <a:lnSpc>
                <a:spcPct val="120000"/>
              </a:lnSpc>
              <a:buFont typeface="Arial" panose="020B0604020202020204" pitchFamily="34" charset="0"/>
              <a:buChar char="•"/>
            </a:pPr>
            <a:r>
              <a:rPr lang="en-US" sz="1600" dirty="0">
                <a:solidFill>
                  <a:srgbClr val="FFFFFF"/>
                </a:solidFill>
                <a:latin typeface="Grandview Display (Body)"/>
              </a:rPr>
              <a:t>The Problem: Traditional investing is overwhelmed by data, which often leads to errors.</a:t>
            </a:r>
          </a:p>
          <a:p>
            <a:pPr marL="285750" indent="-285750">
              <a:lnSpc>
                <a:spcPct val="120000"/>
              </a:lnSpc>
              <a:buFont typeface="Arial" panose="020B0604020202020204" pitchFamily="34" charset="0"/>
              <a:buChar char="•"/>
            </a:pPr>
            <a:r>
              <a:rPr lang="en-US" sz="1600" dirty="0">
                <a:latin typeface="Grandview Display (Body)"/>
              </a:rPr>
              <a:t>Too Much Data: Today's market moves too fast and creates too much data for any person to check completely.</a:t>
            </a:r>
          </a:p>
          <a:p>
            <a:pPr marL="285750" indent="-285750">
              <a:lnSpc>
                <a:spcPct val="120000"/>
              </a:lnSpc>
              <a:buFont typeface="Arial" panose="020B0604020202020204" pitchFamily="34" charset="0"/>
              <a:buChar char="•"/>
            </a:pPr>
            <a:r>
              <a:rPr lang="en-US" sz="1600" dirty="0">
                <a:latin typeface="Grandview Display (Body)"/>
              </a:rPr>
              <a:t>Decisions Are Guesswork: When people can't check all the data, their decisions are often based on incomplete facts, leading to mistakes and bad investments.</a:t>
            </a:r>
          </a:p>
          <a:p>
            <a:pPr marL="285750" indent="-285750">
              <a:lnSpc>
                <a:spcPct val="120000"/>
              </a:lnSpc>
              <a:buFont typeface="Arial" panose="020B0604020202020204" pitchFamily="34" charset="0"/>
              <a:buChar char="•"/>
            </a:pPr>
            <a:r>
              <a:rPr lang="en-US" sz="1600" dirty="0">
                <a:latin typeface="Grandview Display (Body)"/>
              </a:rPr>
              <a:t>Need for a System: We are missing a reliable, automated tool that uses computer analysis to consistently find the best and safest trading moves.</a:t>
            </a:r>
            <a:endParaRPr lang="en-US" sz="1600" dirty="0">
              <a:solidFill>
                <a:srgbClr val="FFFFFF"/>
              </a:solidFill>
              <a:latin typeface="Grandview Display (Body)"/>
            </a:endParaRPr>
          </a:p>
        </p:txBody>
      </p:sp>
      <p:cxnSp>
        <p:nvCxnSpPr>
          <p:cNvPr id="36" name="Straight Connector 35">
            <a:extLst>
              <a:ext uri="{FF2B5EF4-FFF2-40B4-BE49-F238E27FC236}">
                <a16:creationId xmlns:a16="http://schemas.microsoft.com/office/drawing/2014/main" id="{704666B5-8C47-188B-BD2A-7A5CF9EAE1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50E61684-CA19-9C20-710B-1AEA2B2175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1201" y="4446169"/>
            <a:ext cx="3743658" cy="2282719"/>
          </a:xfrm>
          <a:prstGeom prst="rect">
            <a:avLst/>
          </a:prstGeom>
        </p:spPr>
      </p:pic>
    </p:spTree>
    <p:extLst>
      <p:ext uri="{BB962C8B-B14F-4D97-AF65-F5344CB8AC3E}">
        <p14:creationId xmlns:p14="http://schemas.microsoft.com/office/powerpoint/2010/main" val="2026694296"/>
      </p:ext>
    </p:extLst>
  </p:cSld>
  <p:clrMapOvr>
    <a:overrideClrMapping bg1="dk1" tx1="lt1" bg2="dk2" tx2="lt2" accent1="accent1" accent2="accent2" accent3="accent3" accent4="accent4" accent5="accent5" accent6="accent6" hlink="hlink" folHlink="folHlink"/>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48274A-0C1E-879F-E933-465EA27F984F}"/>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D2725A1-A644-BE05-916C-3BDACBA15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EEB74E01-2959-610A-205E-5FCA60655A71}"/>
              </a:ext>
            </a:extLst>
          </p:cNvPr>
          <p:cNvPicPr>
            <a:picLocks noChangeAspect="1"/>
          </p:cNvPicPr>
          <p:nvPr/>
        </p:nvPicPr>
        <p:blipFill>
          <a:blip r:embed="rId3">
            <a:alphaModFix/>
          </a:blip>
          <a:srcRect b="3436"/>
          <a:stretch>
            <a:fillRect/>
          </a:stretch>
        </p:blipFill>
        <p:spPr>
          <a:xfrm>
            <a:off x="2" y="152"/>
            <a:ext cx="12191998" cy="6857848"/>
          </a:xfrm>
          <a:prstGeom prst="rect">
            <a:avLst/>
          </a:prstGeom>
        </p:spPr>
      </p:pic>
      <p:sp>
        <p:nvSpPr>
          <p:cNvPr id="34" name="Rectangle 33">
            <a:extLst>
              <a:ext uri="{FF2B5EF4-FFF2-40B4-BE49-F238E27FC236}">
                <a16:creationId xmlns:a16="http://schemas.microsoft.com/office/drawing/2014/main" id="{BB9F4F96-7D99-91B7-B3B4-72E6F6066B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F1C5CB-0255-6005-B515-4ACD958F8119}"/>
              </a:ext>
            </a:extLst>
          </p:cNvPr>
          <p:cNvSpPr>
            <a:spLocks noGrp="1"/>
          </p:cNvSpPr>
          <p:nvPr>
            <p:ph type="ctrTitle"/>
          </p:nvPr>
        </p:nvSpPr>
        <p:spPr>
          <a:xfrm>
            <a:off x="288063" y="1263445"/>
            <a:ext cx="5758629" cy="2696866"/>
          </a:xfrm>
        </p:spPr>
        <p:txBody>
          <a:bodyPr anchor="t">
            <a:normAutofit/>
          </a:bodyPr>
          <a:lstStyle/>
          <a:p>
            <a:r>
              <a:rPr lang="en-US" b="0" dirty="0">
                <a:solidFill>
                  <a:srgbClr val="FFFFFF"/>
                </a:solidFill>
              </a:rPr>
              <a:t>RELATED WORK</a:t>
            </a:r>
            <a:br>
              <a:rPr lang="en-US" b="0" dirty="0">
                <a:solidFill>
                  <a:srgbClr val="FFFFFF"/>
                </a:solidFill>
              </a:rPr>
            </a:br>
            <a:br>
              <a:rPr lang="en-US" dirty="0">
                <a:solidFill>
                  <a:srgbClr val="FFFFFF"/>
                </a:solidFill>
                <a:latin typeface="Grandview Display (Headings)"/>
                <a:ea typeface="Poppins Bold"/>
                <a:cs typeface="Poppins Bold"/>
                <a:sym typeface="Poppins Bold"/>
              </a:rPr>
            </a:br>
            <a:endParaRPr lang="he-IL" dirty="0">
              <a:solidFill>
                <a:srgbClr val="FFFFFF"/>
              </a:solidFill>
              <a:latin typeface="Grandview Display (Headings)"/>
            </a:endParaRPr>
          </a:p>
        </p:txBody>
      </p:sp>
      <p:sp>
        <p:nvSpPr>
          <p:cNvPr id="3" name="Subtitle 2">
            <a:extLst>
              <a:ext uri="{FF2B5EF4-FFF2-40B4-BE49-F238E27FC236}">
                <a16:creationId xmlns:a16="http://schemas.microsoft.com/office/drawing/2014/main" id="{B9FEA28B-95E3-5872-2BA4-BB76EE080B59}"/>
              </a:ext>
            </a:extLst>
          </p:cNvPr>
          <p:cNvSpPr>
            <a:spLocks noGrp="1"/>
          </p:cNvSpPr>
          <p:nvPr>
            <p:ph type="subTitle" idx="1"/>
          </p:nvPr>
        </p:nvSpPr>
        <p:spPr>
          <a:xfrm>
            <a:off x="217291" y="2155072"/>
            <a:ext cx="7560023" cy="4065130"/>
          </a:xfrm>
        </p:spPr>
        <p:txBody>
          <a:bodyPr anchor="b">
            <a:normAutofit fontScale="92500" lnSpcReduction="20000"/>
          </a:bodyPr>
          <a:lstStyle/>
          <a:p>
            <a:pPr>
              <a:lnSpc>
                <a:spcPct val="120000"/>
              </a:lnSpc>
            </a:pPr>
            <a:r>
              <a:rPr lang="en-US" sz="1600" dirty="0">
                <a:latin typeface="Grandview Display (Body)"/>
              </a:rPr>
              <a:t>Existing algorithmic trading solutions primarily focus on two areas: signal detection (finding short-term price movements) or portfolio optimization (managing risk across many assets). While effective, this research often overlooks the strategic nature of the market. Current systems typically employ reactive models that analyze data after it happens or use complex, "black box" methods (like some Neural Networks) that lack transparency. Crucially, they do not account for how other traders will react to their strategy. The Trading Eye Project addresses this gap by introducing advanced strategic analysis. This allows us to design proactive, transparent strategies that are inherently more secure and stable than the reactive models used by existing solutions.</a:t>
            </a:r>
            <a:endParaRPr lang="en-US" sz="1600" dirty="0">
              <a:solidFill>
                <a:srgbClr val="FFFFFF"/>
              </a:solidFill>
              <a:latin typeface="Grandview Display (Body)"/>
            </a:endParaRPr>
          </a:p>
        </p:txBody>
      </p:sp>
      <p:cxnSp>
        <p:nvCxnSpPr>
          <p:cNvPr id="36" name="Straight Connector 35">
            <a:extLst>
              <a:ext uri="{FF2B5EF4-FFF2-40B4-BE49-F238E27FC236}">
                <a16:creationId xmlns:a16="http://schemas.microsoft.com/office/drawing/2014/main" id="{20D7305B-6926-CB58-4581-4F4F64A2A3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250634"/>
      </p:ext>
    </p:extLst>
  </p:cSld>
  <p:clrMapOvr>
    <a:overrideClrMapping bg1="dk1" tx1="lt1" bg2="dk2" tx2="lt2" accent1="accent1" accent2="accent2" accent3="accent3" accent4="accent4" accent5="accent5" accent6="accent6" hlink="hlink" folHlink="folHlink"/>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C3AB30-CB68-8BA7-1F62-F3FA985423E4}"/>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362FD90-6717-F6C2-BC0E-29978D6D4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BB2A173C-DD45-3081-C142-B6EC8EAF9CDA}"/>
              </a:ext>
            </a:extLst>
          </p:cNvPr>
          <p:cNvPicPr>
            <a:picLocks noChangeAspect="1"/>
          </p:cNvPicPr>
          <p:nvPr/>
        </p:nvPicPr>
        <p:blipFill>
          <a:blip r:embed="rId3">
            <a:alphaModFix/>
          </a:blip>
          <a:srcRect b="3436"/>
          <a:stretch>
            <a:fillRect/>
          </a:stretch>
        </p:blipFill>
        <p:spPr>
          <a:xfrm>
            <a:off x="-406" y="152"/>
            <a:ext cx="12191998" cy="6857848"/>
          </a:xfrm>
          <a:prstGeom prst="rect">
            <a:avLst/>
          </a:prstGeom>
        </p:spPr>
      </p:pic>
      <p:sp>
        <p:nvSpPr>
          <p:cNvPr id="34" name="Rectangle 33">
            <a:extLst>
              <a:ext uri="{FF2B5EF4-FFF2-40B4-BE49-F238E27FC236}">
                <a16:creationId xmlns:a16="http://schemas.microsoft.com/office/drawing/2014/main" id="{304FBE46-5E33-A417-93BB-9D10D62DD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8D334A-48EE-2674-78EC-7F87EAA6D034}"/>
              </a:ext>
            </a:extLst>
          </p:cNvPr>
          <p:cNvSpPr>
            <a:spLocks noGrp="1"/>
          </p:cNvSpPr>
          <p:nvPr>
            <p:ph type="ctrTitle"/>
          </p:nvPr>
        </p:nvSpPr>
        <p:spPr>
          <a:xfrm>
            <a:off x="288063" y="1263445"/>
            <a:ext cx="9672014" cy="2696866"/>
          </a:xfrm>
        </p:spPr>
        <p:txBody>
          <a:bodyPr anchor="t">
            <a:noAutofit/>
          </a:bodyPr>
          <a:lstStyle/>
          <a:p>
            <a:r>
              <a:rPr lang="en-US" sz="3600" dirty="0"/>
              <a:t>Methodology: Core Calculation and Analysis</a:t>
            </a:r>
            <a:endParaRPr lang="he-IL" sz="3600" dirty="0">
              <a:solidFill>
                <a:srgbClr val="FFFFFF"/>
              </a:solidFill>
              <a:latin typeface="Grandview Display (Headings)"/>
            </a:endParaRPr>
          </a:p>
        </p:txBody>
      </p:sp>
      <p:sp>
        <p:nvSpPr>
          <p:cNvPr id="3" name="Subtitle 2">
            <a:extLst>
              <a:ext uri="{FF2B5EF4-FFF2-40B4-BE49-F238E27FC236}">
                <a16:creationId xmlns:a16="http://schemas.microsoft.com/office/drawing/2014/main" id="{96BAD10C-47D2-4A4F-78DE-AABB45EC63C9}"/>
              </a:ext>
            </a:extLst>
          </p:cNvPr>
          <p:cNvSpPr>
            <a:spLocks noGrp="1"/>
          </p:cNvSpPr>
          <p:nvPr>
            <p:ph type="subTitle" idx="1"/>
          </p:nvPr>
        </p:nvSpPr>
        <p:spPr>
          <a:xfrm>
            <a:off x="137904" y="2172007"/>
            <a:ext cx="6926088" cy="1666016"/>
          </a:xfrm>
        </p:spPr>
        <p:txBody>
          <a:bodyPr anchor="b">
            <a:normAutofit/>
          </a:bodyPr>
          <a:lstStyle/>
          <a:p>
            <a:pPr marL="285750" indent="-285750">
              <a:lnSpc>
                <a:spcPct val="120000"/>
              </a:lnSpc>
              <a:buFont typeface="Arial" panose="020B0604020202020204" pitchFamily="34" charset="0"/>
              <a:buChar char="•"/>
            </a:pPr>
            <a:r>
              <a:rPr lang="en-US" sz="1600" dirty="0"/>
              <a:t>Trend Filtering (Moving Averages): We combine multiple price averages (SMA,EMA, WMA, and HULL) to accurately filter market noise and identify the clear direction of the main trend.</a:t>
            </a:r>
            <a:endParaRPr lang="en-US" sz="1600" dirty="0">
              <a:solidFill>
                <a:srgbClr val="FFFFFF"/>
              </a:solidFill>
              <a:latin typeface="Bahnschrift SemiBold" panose="020B0502040204020203" pitchFamily="34" charset="0"/>
            </a:endParaRPr>
          </a:p>
        </p:txBody>
      </p:sp>
      <p:cxnSp>
        <p:nvCxnSpPr>
          <p:cNvPr id="36" name="Straight Connector 35">
            <a:extLst>
              <a:ext uri="{FF2B5EF4-FFF2-40B4-BE49-F238E27FC236}">
                <a16:creationId xmlns:a16="http://schemas.microsoft.com/office/drawing/2014/main" id="{C072496E-114D-B4AA-9A20-200DDEC003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A9C0996-8E33-465B-91C2-0E80B8665567}"/>
              </a:ext>
            </a:extLst>
          </p:cNvPr>
          <p:cNvPicPr>
            <a:picLocks noChangeAspect="1"/>
          </p:cNvPicPr>
          <p:nvPr/>
        </p:nvPicPr>
        <p:blipFill>
          <a:blip r:embed="rId4"/>
          <a:srcRect l="-1" r="738" b="3402"/>
          <a:stretch>
            <a:fillRect/>
          </a:stretch>
        </p:blipFill>
        <p:spPr>
          <a:xfrm>
            <a:off x="289869" y="3838023"/>
            <a:ext cx="7010091" cy="2474287"/>
          </a:xfrm>
          <a:prstGeom prst="rect">
            <a:avLst/>
          </a:prstGeom>
        </p:spPr>
      </p:pic>
    </p:spTree>
    <p:extLst>
      <p:ext uri="{BB962C8B-B14F-4D97-AF65-F5344CB8AC3E}">
        <p14:creationId xmlns:p14="http://schemas.microsoft.com/office/powerpoint/2010/main" val="4287374586"/>
      </p:ext>
    </p:extLst>
  </p:cSld>
  <p:clrMapOvr>
    <a:overrideClrMapping bg1="dk1" tx1="lt1" bg2="dk2" tx2="lt2" accent1="accent1" accent2="accent2" accent3="accent3" accent4="accent4" accent5="accent5" accent6="accent6" hlink="hlink" folHlink="folHlink"/>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18A474-8CE9-ACEF-834E-5F450A675612}"/>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6AA158C-2A3F-3351-C115-E587EC373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2C040714-02CF-EF8B-0C68-F1B1FE7A893D}"/>
              </a:ext>
            </a:extLst>
          </p:cNvPr>
          <p:cNvPicPr>
            <a:picLocks noChangeAspect="1"/>
          </p:cNvPicPr>
          <p:nvPr/>
        </p:nvPicPr>
        <p:blipFill>
          <a:blip r:embed="rId3">
            <a:alphaModFix/>
          </a:blip>
          <a:srcRect b="3436"/>
          <a:stretch>
            <a:fillRect/>
          </a:stretch>
        </p:blipFill>
        <p:spPr>
          <a:xfrm>
            <a:off x="-406" y="152"/>
            <a:ext cx="12191998" cy="6857848"/>
          </a:xfrm>
          <a:prstGeom prst="rect">
            <a:avLst/>
          </a:prstGeom>
        </p:spPr>
      </p:pic>
      <p:sp>
        <p:nvSpPr>
          <p:cNvPr id="34" name="Rectangle 33">
            <a:extLst>
              <a:ext uri="{FF2B5EF4-FFF2-40B4-BE49-F238E27FC236}">
                <a16:creationId xmlns:a16="http://schemas.microsoft.com/office/drawing/2014/main" id="{A7377670-10DC-AB16-3333-83CF97CD8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F83CD7-6E6E-1F61-9898-620AEB73888F}"/>
              </a:ext>
            </a:extLst>
          </p:cNvPr>
          <p:cNvSpPr>
            <a:spLocks noGrp="1"/>
          </p:cNvSpPr>
          <p:nvPr>
            <p:ph type="ctrTitle"/>
          </p:nvPr>
        </p:nvSpPr>
        <p:spPr>
          <a:xfrm>
            <a:off x="288063" y="1263445"/>
            <a:ext cx="9672014" cy="2696866"/>
          </a:xfrm>
        </p:spPr>
        <p:txBody>
          <a:bodyPr anchor="t">
            <a:noAutofit/>
          </a:bodyPr>
          <a:lstStyle/>
          <a:p>
            <a:r>
              <a:rPr lang="en-US" sz="3600" dirty="0"/>
              <a:t>Methodology: Core Calculation and Analysis</a:t>
            </a:r>
            <a:endParaRPr lang="he-IL" sz="3600" dirty="0">
              <a:solidFill>
                <a:srgbClr val="FFFFFF"/>
              </a:solidFill>
              <a:latin typeface="Grandview Display (Headings)"/>
            </a:endParaRPr>
          </a:p>
        </p:txBody>
      </p:sp>
      <p:sp>
        <p:nvSpPr>
          <p:cNvPr id="3" name="Subtitle 2">
            <a:extLst>
              <a:ext uri="{FF2B5EF4-FFF2-40B4-BE49-F238E27FC236}">
                <a16:creationId xmlns:a16="http://schemas.microsoft.com/office/drawing/2014/main" id="{F2DE35B0-A31C-3085-883E-C31BAE5C1731}"/>
              </a:ext>
            </a:extLst>
          </p:cNvPr>
          <p:cNvSpPr>
            <a:spLocks noGrp="1"/>
          </p:cNvSpPr>
          <p:nvPr>
            <p:ph type="subTitle" idx="1"/>
          </p:nvPr>
        </p:nvSpPr>
        <p:spPr>
          <a:xfrm>
            <a:off x="87104" y="1833266"/>
            <a:ext cx="8254256" cy="2621280"/>
          </a:xfrm>
        </p:spPr>
        <p:txBody>
          <a:bodyPr anchor="b">
            <a:normAutofit/>
          </a:bodyPr>
          <a:lstStyle/>
          <a:p>
            <a:pPr marL="285750" indent="-285750">
              <a:lnSpc>
                <a:spcPct val="120000"/>
              </a:lnSpc>
              <a:buFont typeface="Arial" panose="020B0604020202020204" pitchFamily="34" charset="0"/>
              <a:buChar char="•"/>
            </a:pPr>
            <a:r>
              <a:rPr lang="en-US" sz="1600" dirty="0">
                <a:solidFill>
                  <a:srgbClr val="FFFFFF"/>
                </a:solidFill>
                <a:latin typeface="Grandview Display (Body)"/>
              </a:rPr>
              <a:t>Trend Strength (ADX): The ADX indicator is calculated to precisely measure the strength and momentum of the current trend, ensuring we only enter stable opportunities.</a:t>
            </a:r>
          </a:p>
          <a:p>
            <a:pPr marL="285750" indent="-285750">
              <a:lnSpc>
                <a:spcPct val="120000"/>
              </a:lnSpc>
              <a:buFont typeface="Arial" panose="020B0604020202020204" pitchFamily="34" charset="0"/>
              <a:buChar char="•"/>
            </a:pPr>
            <a:r>
              <a:rPr lang="en-US" sz="1600" dirty="0">
                <a:solidFill>
                  <a:srgbClr val="FFFFFF"/>
                </a:solidFill>
                <a:latin typeface="Grandview Display (Body)"/>
              </a:rPr>
              <a:t>Price Boundaries (HH/LL): We define the market's operating range by calculating the HH (Highest High) and LL (Lowest Low), which set the crucial risk and profit boundaries for every strategy.</a:t>
            </a:r>
          </a:p>
        </p:txBody>
      </p:sp>
      <p:cxnSp>
        <p:nvCxnSpPr>
          <p:cNvPr id="36" name="Straight Connector 35">
            <a:extLst>
              <a:ext uri="{FF2B5EF4-FFF2-40B4-BE49-F238E27FC236}">
                <a16:creationId xmlns:a16="http://schemas.microsoft.com/office/drawing/2014/main" id="{B0F9090B-D847-3E8D-F469-B4E104531D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2CC8600-2458-C98D-49FF-D8132191C364}"/>
              </a:ext>
            </a:extLst>
          </p:cNvPr>
          <p:cNvPicPr>
            <a:picLocks noChangeAspect="1"/>
          </p:cNvPicPr>
          <p:nvPr/>
        </p:nvPicPr>
        <p:blipFill>
          <a:blip r:embed="rId4"/>
          <a:srcRect l="5" t="218" r="-1413" b="1151"/>
          <a:stretch>
            <a:fillRect/>
          </a:stretch>
        </p:blipFill>
        <p:spPr>
          <a:xfrm>
            <a:off x="5355680" y="4454546"/>
            <a:ext cx="6576608" cy="2350679"/>
          </a:xfrm>
          <a:prstGeom prst="rect">
            <a:avLst/>
          </a:prstGeom>
        </p:spPr>
      </p:pic>
    </p:spTree>
    <p:extLst>
      <p:ext uri="{BB962C8B-B14F-4D97-AF65-F5344CB8AC3E}">
        <p14:creationId xmlns:p14="http://schemas.microsoft.com/office/powerpoint/2010/main" val="3668571958"/>
      </p:ext>
    </p:extLst>
  </p:cSld>
  <p:clrMapOvr>
    <a:overrideClrMapping bg1="dk1" tx1="lt1" bg2="dk2" tx2="lt2" accent1="accent1" accent2="accent2" accent3="accent3" accent4="accent4" accent5="accent5" accent6="accent6" hlink="hlink" folHlink="folHlink"/>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2305F6-ECA9-83D4-CE17-FBBED4C56B61}"/>
            </a:ext>
          </a:extLst>
        </p:cNvPr>
        <p:cNvGrpSpPr/>
        <p:nvPr/>
      </p:nvGrpSpPr>
      <p:grpSpPr>
        <a:xfrm>
          <a:off x="0" y="0"/>
          <a:ext cx="0" cy="0"/>
          <a:chOff x="0" y="0"/>
          <a:chExt cx="0" cy="0"/>
        </a:xfrm>
      </p:grpSpPr>
      <p:cxnSp>
        <p:nvCxnSpPr>
          <p:cNvPr id="56" name="Straight Connector 55">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58" name="Rectangle 57">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139065-6355-402D-F0DA-6C3B3B0B1B43}"/>
              </a:ext>
            </a:extLst>
          </p:cNvPr>
          <p:cNvSpPr>
            <a:spLocks noGrp="1"/>
          </p:cNvSpPr>
          <p:nvPr>
            <p:ph type="ctrTitle"/>
          </p:nvPr>
        </p:nvSpPr>
        <p:spPr>
          <a:xfrm>
            <a:off x="5496821" y="1371600"/>
            <a:ext cx="6034187" cy="1097280"/>
          </a:xfrm>
        </p:spPr>
        <p:txBody>
          <a:bodyPr vert="horz" lIns="91440" tIns="45720" rIns="91440" bIns="45720" rtlCol="0" anchor="t">
            <a:normAutofit/>
          </a:bodyPr>
          <a:lstStyle/>
          <a:p>
            <a:pPr>
              <a:lnSpc>
                <a:spcPct val="90000"/>
              </a:lnSpc>
            </a:pPr>
            <a:r>
              <a:rPr lang="en-US" sz="3400"/>
              <a:t>What's Next: Our Future Plan</a:t>
            </a:r>
          </a:p>
        </p:txBody>
      </p:sp>
      <p:pic>
        <p:nvPicPr>
          <p:cNvPr id="4" name="Picture 3" descr="Network Technology Background">
            <a:extLst>
              <a:ext uri="{FF2B5EF4-FFF2-40B4-BE49-F238E27FC236}">
                <a16:creationId xmlns:a16="http://schemas.microsoft.com/office/drawing/2014/main" id="{13B18801-C9CF-B240-626C-AE9B12EFCA23}"/>
              </a:ext>
            </a:extLst>
          </p:cNvPr>
          <p:cNvPicPr>
            <a:picLocks noChangeAspect="1"/>
          </p:cNvPicPr>
          <p:nvPr/>
        </p:nvPicPr>
        <p:blipFill>
          <a:blip r:embed="rId3"/>
          <a:srcRect l="46395" r="12343" b="-1"/>
          <a:stretch>
            <a:fillRect/>
          </a:stretch>
        </p:blipFill>
        <p:spPr>
          <a:xfrm>
            <a:off x="20" y="10"/>
            <a:ext cx="4857871" cy="6857990"/>
          </a:xfrm>
          <a:prstGeom prst="rect">
            <a:avLst/>
          </a:prstGeom>
        </p:spPr>
      </p:pic>
      <p:cxnSp>
        <p:nvCxnSpPr>
          <p:cNvPr id="60" name="Straight Connector 59">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E3CA9002-37ED-D321-7C1B-68C078A18782}"/>
              </a:ext>
            </a:extLst>
          </p:cNvPr>
          <p:cNvSpPr>
            <a:spLocks noGrp="1"/>
          </p:cNvSpPr>
          <p:nvPr>
            <p:ph type="subTitle" idx="1"/>
          </p:nvPr>
        </p:nvSpPr>
        <p:spPr>
          <a:xfrm>
            <a:off x="5496821" y="2062012"/>
            <a:ext cx="6034187" cy="4235912"/>
          </a:xfrm>
        </p:spPr>
        <p:txBody>
          <a:bodyPr vert="horz" lIns="91440" tIns="45720" rIns="91440" bIns="45720" rtlCol="0">
            <a:normAutofit/>
          </a:bodyPr>
          <a:lstStyle/>
          <a:p>
            <a:pPr>
              <a:lnSpc>
                <a:spcPct val="110000"/>
              </a:lnSpc>
            </a:pPr>
            <a:r>
              <a:rPr lang="en-US" sz="1200" dirty="0"/>
              <a:t>The Trading Eye Project proves that a smart system can create better and safer trading plans. Now, we have two main goals for the future: to learn more and to build a great app.</a:t>
            </a:r>
          </a:p>
          <a:p>
            <a:pPr marL="228600" indent="-228600">
              <a:lnSpc>
                <a:spcPct val="110000"/>
              </a:lnSpc>
              <a:buFont typeface="+mj-lt"/>
              <a:buAutoNum type="arabicPeriod"/>
            </a:pPr>
            <a:r>
              <a:rPr lang="en-US" sz="1200" dirty="0"/>
              <a:t>Learning More (Research): We will keep studying how our indicators (like ADX and HULL) work in different market situations. This ongoing research will help us constantly make our strategies stronger and more up-to-date.</a:t>
            </a:r>
          </a:p>
          <a:p>
            <a:pPr marL="228600" indent="-228600">
              <a:lnSpc>
                <a:spcPct val="110000"/>
              </a:lnSpc>
              <a:buFont typeface="+mj-lt"/>
              <a:buAutoNum type="arabicPeriod"/>
            </a:pPr>
            <a:r>
              <a:rPr lang="en-US" sz="1200" dirty="0"/>
              <a:t>Building the App (Development): Our next step is turning this powerful system into a simple, easy-to-use application. We want to design a clear screen with great graphs so any user can quickly see and use our smart trading plans to manage their money better.</a:t>
            </a:r>
          </a:p>
          <a:p>
            <a:pPr>
              <a:lnSpc>
                <a:spcPct val="110000"/>
              </a:lnSpc>
            </a:pPr>
            <a:r>
              <a:rPr lang="en-US" sz="1200" dirty="0"/>
              <a:t>In short, we are working to take complex science and put it into a simple tool that makes smart trading easy for everyone.</a:t>
            </a:r>
          </a:p>
        </p:txBody>
      </p:sp>
    </p:spTree>
    <p:extLst>
      <p:ext uri="{BB962C8B-B14F-4D97-AF65-F5344CB8AC3E}">
        <p14:creationId xmlns:p14="http://schemas.microsoft.com/office/powerpoint/2010/main" val="349805871"/>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B0B075-84E6-EBEB-2B73-75B643BC8BEB}"/>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66FED-CC97-2F10-701F-C21E6D2C0B7F}"/>
              </a:ext>
            </a:extLst>
          </p:cNvPr>
          <p:cNvSpPr>
            <a:spLocks noGrp="1"/>
          </p:cNvSpPr>
          <p:nvPr>
            <p:ph type="ctrTitle"/>
          </p:nvPr>
        </p:nvSpPr>
        <p:spPr>
          <a:xfrm>
            <a:off x="7537528" y="1032764"/>
            <a:ext cx="4308672" cy="3224045"/>
          </a:xfrm>
        </p:spPr>
        <p:txBody>
          <a:bodyPr anchor="b">
            <a:normAutofit/>
          </a:bodyPr>
          <a:lstStyle/>
          <a:p>
            <a:r>
              <a:rPr lang="en-US" sz="5800">
                <a:latin typeface="Grandview Display (Headings)"/>
              </a:rPr>
              <a:t>Thank you</a:t>
            </a:r>
            <a:endParaRPr lang="he-IL" sz="5800">
              <a:latin typeface="Grandview Display (Headings)"/>
            </a:endParaRPr>
          </a:p>
        </p:txBody>
      </p:sp>
      <p:pic>
        <p:nvPicPr>
          <p:cNvPr id="4" name="Picture 3" descr="Network Technology Background">
            <a:extLst>
              <a:ext uri="{FF2B5EF4-FFF2-40B4-BE49-F238E27FC236}">
                <a16:creationId xmlns:a16="http://schemas.microsoft.com/office/drawing/2014/main" id="{FF135E5D-66C8-D6AB-B881-66D634E7A52D}"/>
              </a:ext>
            </a:extLst>
          </p:cNvPr>
          <p:cNvPicPr>
            <a:picLocks noChangeAspect="1"/>
          </p:cNvPicPr>
          <p:nvPr/>
        </p:nvPicPr>
        <p:blipFill>
          <a:blip r:embed="rId3"/>
          <a:srcRect l="37590" r="3538" b="-1"/>
          <a:stretch>
            <a:fillRect/>
          </a:stretch>
        </p:blipFill>
        <p:spPr>
          <a:xfrm>
            <a:off x="20" y="10"/>
            <a:ext cx="6931132" cy="6857990"/>
          </a:xfrm>
          <a:prstGeom prst="rect">
            <a:avLst/>
          </a:prstGeom>
        </p:spPr>
      </p:pic>
      <p:cxnSp>
        <p:nvCxnSpPr>
          <p:cNvPr id="43" name="Straight Connector 42">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9093595"/>
      </p:ext>
    </p:extLst>
  </p:cSld>
  <p:clrMapOvr>
    <a:masterClrMapping/>
  </p:clrMapOvr>
  <p:transition spd="slow">
    <p:cover/>
  </p:transition>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673</Words>
  <Application>Microsoft Office PowerPoint</Application>
  <PresentationFormat>Widescreen</PresentationFormat>
  <Paragraphs>31</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Bahnschrift SemiBold</vt:lpstr>
      <vt:lpstr>Grandview Display</vt:lpstr>
      <vt:lpstr>Grandview Display (Body)</vt:lpstr>
      <vt:lpstr>Grandview Display (Headings)</vt:lpstr>
      <vt:lpstr>DashVTI</vt:lpstr>
      <vt:lpstr>Trading Eye Project BC-CS-26-136</vt:lpstr>
      <vt:lpstr>INTRODUCTION</vt:lpstr>
      <vt:lpstr>THE PROBLEM  </vt:lpstr>
      <vt:lpstr>RELATED WORK  </vt:lpstr>
      <vt:lpstr>Methodology: Core Calculation and Analysis</vt:lpstr>
      <vt:lpstr>Methodology: Core Calculation and Analysis</vt:lpstr>
      <vt:lpstr>What's Next: Our Future Plan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Edgar Abramov</dc:creator>
  <cp:lastModifiedBy>Edgar Abramov</cp:lastModifiedBy>
  <cp:revision>3</cp:revision>
  <dcterms:created xsi:type="dcterms:W3CDTF">2025-12-16T19:56:10Z</dcterms:created>
  <dcterms:modified xsi:type="dcterms:W3CDTF">2025-12-16T21:55:03Z</dcterms:modified>
</cp:coreProperties>
</file>